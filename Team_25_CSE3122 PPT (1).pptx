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10"/>
  </p:notesMasterIdLst>
  <p:sldIdLst>
    <p:sldId id="256" r:id="rId5"/>
    <p:sldId id="270" r:id="rId6"/>
    <p:sldId id="271" r:id="rId7"/>
    <p:sldId id="272" r:id="rId8"/>
    <p:sldId id="269" r:id="rId9"/>
  </p:sldIdLst>
  <p:sldSz cx="12192000" cy="6858000"/>
  <p:notesSz cx="6954838" cy="9309100"/>
  <p:embeddedFontLst>
    <p:embeddedFont>
      <p:font typeface="Calibri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218D7-7B49-7C24-0092-BD1B6BEA0DAC}" v="120" dt="2025-04-21T16:46:37.352"/>
    <p1510:client id="{469D105A-81B3-18B9-2DE4-9945B05B1C7A}" v="8" dt="2025-04-20T16:57:33.025"/>
    <p1510:client id="{5BBB4DFB-FCAE-F2AA-9215-4C9B1D5C9F83}" v="23" dt="2025-04-21T16:41:56.056"/>
  </p1510:revLst>
</p1510:revInfo>
</file>

<file path=ppt/tableStyles.xml><?xml version="1.0" encoding="utf-8"?>
<a:tblStyleLst xmlns:a="http://schemas.openxmlformats.org/drawingml/2006/main" def="{2BB0C85F-2338-45E7-895A-A2D966CC2AE9}">
  <a:tblStyle styleId="{2BB0C85F-2338-45E7-895A-A2D966CC2AE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75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S G GOWDA" userId="S::shreyas20221ise0151@presidencyuniversity.in::b361a360-bdfa-4507-9d40-527a86c5818d" providerId="AD" clId="Web-{469D105A-81B3-18B9-2DE4-9945B05B1C7A}"/>
    <pc:docChg chg="addSld modSld">
      <pc:chgData name="SHREYAS G GOWDA" userId="S::shreyas20221ise0151@presidencyuniversity.in::b361a360-bdfa-4507-9d40-527a86c5818d" providerId="AD" clId="Web-{469D105A-81B3-18B9-2DE4-9945B05B1C7A}" dt="2025-04-20T16:57:33.025" v="5"/>
      <pc:docMkLst>
        <pc:docMk/>
      </pc:docMkLst>
      <pc:sldChg chg="addSp delSp modSp">
        <pc:chgData name="SHREYAS G GOWDA" userId="S::shreyas20221ise0151@presidencyuniversity.in::b361a360-bdfa-4507-9d40-527a86c5818d" providerId="AD" clId="Web-{469D105A-81B3-18B9-2DE4-9945B05B1C7A}" dt="2025-04-20T16:55:27.101" v="3"/>
        <pc:sldMkLst>
          <pc:docMk/>
          <pc:sldMk cId="2774019828" sldId="270"/>
        </pc:sldMkLst>
        <pc:picChg chg="add del mod">
          <ac:chgData name="SHREYAS G GOWDA" userId="S::shreyas20221ise0151@presidencyuniversity.in::b361a360-bdfa-4507-9d40-527a86c5818d" providerId="AD" clId="Web-{469D105A-81B3-18B9-2DE4-9945B05B1C7A}" dt="2025-04-20T16:55:27.101" v="3"/>
          <ac:picMkLst>
            <pc:docMk/>
            <pc:sldMk cId="2774019828" sldId="270"/>
            <ac:picMk id="3" creationId="{402297CE-CAAB-CB6A-2E83-BDAC00E34736}"/>
          </ac:picMkLst>
        </pc:picChg>
        <pc:picChg chg="add del mod">
          <ac:chgData name="SHREYAS G GOWDA" userId="S::shreyas20221ise0151@presidencyuniversity.in::b361a360-bdfa-4507-9d40-527a86c5818d" providerId="AD" clId="Web-{469D105A-81B3-18B9-2DE4-9945B05B1C7A}" dt="2025-04-20T16:55:24.336" v="2"/>
          <ac:picMkLst>
            <pc:docMk/>
            <pc:sldMk cId="2774019828" sldId="270"/>
            <ac:picMk id="4" creationId="{49361EA0-3656-A8C4-06E0-B34A265009E3}"/>
          </ac:picMkLst>
        </pc:picChg>
      </pc:sldChg>
      <pc:sldChg chg="add replId">
        <pc:chgData name="SHREYAS G GOWDA" userId="S::shreyas20221ise0151@presidencyuniversity.in::b361a360-bdfa-4507-9d40-527a86c5818d" providerId="AD" clId="Web-{469D105A-81B3-18B9-2DE4-9945B05B1C7A}" dt="2025-04-20T16:57:30.150" v="4"/>
        <pc:sldMkLst>
          <pc:docMk/>
          <pc:sldMk cId="2892945349" sldId="271"/>
        </pc:sldMkLst>
      </pc:sldChg>
      <pc:sldChg chg="add replId">
        <pc:chgData name="SHREYAS G GOWDA" userId="S::shreyas20221ise0151@presidencyuniversity.in::b361a360-bdfa-4507-9d40-527a86c5818d" providerId="AD" clId="Web-{469D105A-81B3-18B9-2DE4-9945B05B1C7A}" dt="2025-04-20T16:57:33.025" v="5"/>
        <pc:sldMkLst>
          <pc:docMk/>
          <pc:sldMk cId="621306760" sldId="272"/>
        </pc:sldMkLst>
      </pc:sldChg>
    </pc:docChg>
  </pc:docChgLst>
  <pc:docChgLst>
    <pc:chgData name="MANOJ H K" userId="S::manoj.20221ise0081@presidencyuniversity.in::50022c04-2cfa-4bbe-96e5-dc3df2959504" providerId="AD" clId="Web-{AAE224E2-A858-855C-CD3F-1A92A0C3BC28}"/>
    <pc:docChg chg="addSld">
      <pc:chgData name="MANOJ H K" userId="S::manoj.20221ise0081@presidencyuniversity.in::50022c04-2cfa-4bbe-96e5-dc3df2959504" providerId="AD" clId="Web-{AAE224E2-A858-855C-CD3F-1A92A0C3BC28}" dt="2025-04-19T16:00:20.699" v="0"/>
      <pc:docMkLst>
        <pc:docMk/>
      </pc:docMkLst>
      <pc:sldChg chg="new">
        <pc:chgData name="MANOJ H K" userId="S::manoj.20221ise0081@presidencyuniversity.in::50022c04-2cfa-4bbe-96e5-dc3df2959504" providerId="AD" clId="Web-{AAE224E2-A858-855C-CD3F-1A92A0C3BC28}" dt="2025-04-19T16:00:20.699" v="0"/>
        <pc:sldMkLst>
          <pc:docMk/>
          <pc:sldMk cId="2774019828" sldId="270"/>
        </pc:sldMkLst>
      </pc:sldChg>
    </pc:docChg>
  </pc:docChgLst>
  <pc:docChgLst>
    <pc:chgData name="SHREYAS G GOWDA" userId="S::shreyas20221ise0151@presidencyuniversity.in::b361a360-bdfa-4507-9d40-527a86c5818d" providerId="AD" clId="Web-{5BBB4DFB-FCAE-F2AA-9215-4C9B1D5C9F83}"/>
    <pc:docChg chg="modSld">
      <pc:chgData name="SHREYAS G GOWDA" userId="S::shreyas20221ise0151@presidencyuniversity.in::b361a360-bdfa-4507-9d40-527a86c5818d" providerId="AD" clId="Web-{5BBB4DFB-FCAE-F2AA-9215-4C9B1D5C9F83}" dt="2025-04-21T16:41:55.274" v="14" actId="20577"/>
      <pc:docMkLst>
        <pc:docMk/>
      </pc:docMkLst>
      <pc:sldChg chg="modSp">
        <pc:chgData name="SHREYAS G GOWDA" userId="S::shreyas20221ise0151@presidencyuniversity.in::b361a360-bdfa-4507-9d40-527a86c5818d" providerId="AD" clId="Web-{5BBB4DFB-FCAE-F2AA-9215-4C9B1D5C9F83}" dt="2025-04-21T16:41:55.274" v="14" actId="20577"/>
        <pc:sldMkLst>
          <pc:docMk/>
          <pc:sldMk cId="0" sldId="256"/>
        </pc:sldMkLst>
        <pc:spChg chg="mod">
          <ac:chgData name="SHREYAS G GOWDA" userId="S::shreyas20221ise0151@presidencyuniversity.in::b361a360-bdfa-4507-9d40-527a86c5818d" providerId="AD" clId="Web-{5BBB4DFB-FCAE-F2AA-9215-4C9B1D5C9F83}" dt="2025-04-21T16:41:55.274" v="14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SRUJAN H G" userId="S::srujan.20221ise0026@presidencyuniversity.in::dfc645b9-05b1-48ad-9d61-15904dfe43f7" providerId="AD" clId="Web-{1EE218D7-7B49-7C24-0092-BD1B6BEA0DAC}"/>
    <pc:docChg chg="modSld">
      <pc:chgData name="SRUJAN H G" userId="S::srujan.20221ise0026@presidencyuniversity.in::dfc645b9-05b1-48ad-9d61-15904dfe43f7" providerId="AD" clId="Web-{1EE218D7-7B49-7C24-0092-BD1B6BEA0DAC}" dt="2025-04-21T16:46:37.352" v="88" actId="20577"/>
      <pc:docMkLst>
        <pc:docMk/>
      </pc:docMkLst>
      <pc:sldChg chg="modSp">
        <pc:chgData name="SRUJAN H G" userId="S::srujan.20221ise0026@presidencyuniversity.in::dfc645b9-05b1-48ad-9d61-15904dfe43f7" providerId="AD" clId="Web-{1EE218D7-7B49-7C24-0092-BD1B6BEA0DAC}" dt="2025-04-21T16:46:37.352" v="88" actId="20577"/>
        <pc:sldMkLst>
          <pc:docMk/>
          <pc:sldMk cId="0" sldId="256"/>
        </pc:sldMkLst>
        <pc:spChg chg="mod">
          <ac:chgData name="SRUJAN H G" userId="S::srujan.20221ise0026@presidencyuniversity.in::dfc645b9-05b1-48ad-9d61-15904dfe43f7" providerId="AD" clId="Web-{1EE218D7-7B49-7C24-0092-BD1B6BEA0DAC}" dt="2025-04-21T16:46:37.352" v="8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RUJAN H G" userId="S::srujan.20221ise0026@presidencyuniversity.in::dfc645b9-05b1-48ad-9d61-15904dfe43f7" providerId="AD" clId="Web-{1EE218D7-7B49-7C24-0092-BD1B6BEA0DAC}" dt="2025-04-21T16:46:21.164" v="76" actId="20577"/>
          <ac:spMkLst>
            <pc:docMk/>
            <pc:sldMk cId="0" sldId="256"/>
            <ac:spMk id="89" creationId="{00000000-0000-0000-0000-000000000000}"/>
          </ac:spMkLst>
        </pc:spChg>
        <pc:spChg chg="mod">
          <ac:chgData name="SRUJAN H G" userId="S::srujan.20221ise0026@presidencyuniversity.in::dfc645b9-05b1-48ad-9d61-15904dfe43f7" providerId="AD" clId="Web-{1EE218D7-7B49-7C24-0092-BD1B6BEA0DAC}" dt="2025-04-21T16:44:58.663" v="61" actId="14100"/>
          <ac:spMkLst>
            <pc:docMk/>
            <pc:sldMk cId="0" sldId="256"/>
            <ac:spMk id="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130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40175" y="0"/>
            <a:ext cx="30130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375"/>
            <a:ext cx="30130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4919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title"/>
          </p:nvPr>
        </p:nvSpPr>
        <p:spPr>
          <a:xfrm>
            <a:off x="368779" y="403230"/>
            <a:ext cx="11454441" cy="292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b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800" b="1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Title: Ensemble classification and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IoT</a:t>
            </a:r>
            <a:r>
              <a:rPr lang="en-US" sz="3600" b="1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lang="en-US" sz="3600" b="1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based patter recognition for crop disease monitoring system</a:t>
            </a:r>
            <a:r>
              <a:rPr lang="en-US" sz="2800" b="1" i="1" u="none" strike="noStrike" cap="none" dirty="0">
                <a:latin typeface="Arial"/>
                <a:ea typeface="Arial"/>
                <a:cs typeface="Arial"/>
              </a:rPr>
              <a:t/>
            </a:r>
            <a:br>
              <a:rPr lang="en-US" sz="2800" b="1" i="1" u="none" strike="noStrike" cap="none" dirty="0">
                <a:latin typeface="Arial"/>
                <a:ea typeface="Arial"/>
                <a:cs typeface="Arial"/>
              </a:rPr>
            </a:br>
            <a:r>
              <a:rPr lang="en-US" sz="2400" b="1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Name- Pattern Recognition</a:t>
            </a:r>
            <a:r>
              <a:rPr lang="en-US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</a:t>
            </a:r>
            <a:r>
              <a:rPr lang="en-US" sz="2400" b="1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Code- CSE3122</a:t>
            </a:r>
            <a:r>
              <a:rPr lang="en-US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Number- </a:t>
            </a:r>
            <a:r>
              <a:rPr lang="en-US" sz="2400" b="1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US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0" y="4648525"/>
            <a:ext cx="58674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Name-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Mrs. </a:t>
            </a:r>
            <a:r>
              <a:rPr lang="en-US" sz="2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Bhuvaneshwari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Patil</a:t>
            </a:r>
            <a:endParaRPr lang="en-US"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Professor, Department of CSE</a:t>
            </a:r>
            <a:br>
              <a:rPr lang="en-US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Presidency University</a:t>
            </a:r>
            <a:endParaRPr sz="18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941683" y="4494637"/>
            <a:ext cx="3773041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</a:t>
            </a:r>
            <a:r>
              <a:rPr lang="en-US" sz="2000" b="1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members- </a:t>
            </a:r>
            <a:r>
              <a:rPr lang="en-US" sz="2000" b="1" dirty="0" err="1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Abinaya</a:t>
            </a:r>
            <a:r>
              <a:rPr lang="en-US" sz="2000" b="1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</a:p>
          <a:p>
            <a:r>
              <a:rPr lang="en-US" sz="20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r>
              <a:rPr lang="en-US" sz="2000" b="1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lang="en-US" sz="2000" b="1" dirty="0" err="1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Amrutha</a:t>
            </a:r>
            <a:r>
              <a:rPr lang="en-US" sz="20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000" b="1" dirty="0">
              <a:latin typeface="Times New Roman"/>
              <a:ea typeface="Times New Roman"/>
              <a:cs typeface="Times New Roman"/>
            </a:endParaRPr>
          </a:p>
          <a:p>
            <a:endParaRPr lang="en-US" b="1" dirty="0">
              <a:latin typeface="Times New Roman"/>
              <a:cs typeface="Times New Roman"/>
            </a:endParaRPr>
          </a:p>
          <a:p>
            <a:endParaRPr lang="en-US" dirty="0"/>
          </a:p>
          <a:p>
            <a:r>
              <a:rPr lang="en-US" b="1" dirty="0">
                <a:latin typeface="Times New Roman"/>
                <a:cs typeface="Times New Roman"/>
              </a:rPr>
              <a:t>   </a:t>
            </a:r>
            <a:endParaRPr lang="en-US" dirty="0"/>
          </a:p>
          <a:p>
            <a:endParaRPr lang="en-US" b="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584545D6-60B7-C088-81C0-0B2A24417B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0300" y="661888"/>
            <a:ext cx="2595582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Introduction: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2617" y="1354386"/>
            <a:ext cx="109312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Agricultural productivity is critically threatened by crop diseases, leading to substantial economic losses and food insecurity. Traditional disease detection methods are often time-consuming, labor-intensive, and prone to human error. This project proposes an intelligent </a:t>
            </a:r>
            <a:r>
              <a:rPr lang="en-US" sz="2400" b="1" dirty="0" err="1"/>
              <a:t>IoT</a:t>
            </a:r>
            <a:r>
              <a:rPr lang="en-US" sz="2400" b="1" dirty="0"/>
              <a:t>-enabled crop disease monitoring system</a:t>
            </a:r>
            <a:r>
              <a:rPr lang="en-US" sz="2400" dirty="0"/>
              <a:t> that leverages </a:t>
            </a:r>
            <a:r>
              <a:rPr lang="en-US" sz="2400" b="1" dirty="0"/>
              <a:t>ensemble classification techniques</a:t>
            </a:r>
            <a:r>
              <a:rPr lang="en-US" sz="2400" dirty="0"/>
              <a:t> and </a:t>
            </a:r>
            <a:r>
              <a:rPr lang="en-US" sz="2400" b="1" dirty="0"/>
              <a:t>pattern recognition</a:t>
            </a:r>
            <a:r>
              <a:rPr lang="en-US" sz="2400" dirty="0"/>
              <a:t> to enhance early detection and diagnosis. By integrating </a:t>
            </a:r>
            <a:r>
              <a:rPr lang="en-US" sz="2400" b="1" dirty="0"/>
              <a:t>real-time sensor data</a:t>
            </a:r>
            <a:r>
              <a:rPr lang="en-US" sz="2400" dirty="0"/>
              <a:t> with robust machine learning models, the system ensures </a:t>
            </a:r>
            <a:r>
              <a:rPr lang="en-US" sz="2400" b="1" dirty="0"/>
              <a:t>accurate, scalable, and timely monitoring</a:t>
            </a:r>
            <a:r>
              <a:rPr lang="en-US" sz="2400" dirty="0"/>
              <a:t>, empowering farmers with actionable insights to protect and optimize their crops.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74019828"/>
      </p:ext>
    </p:extLst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B0F7DB2-82A9-1F80-EE83-BE8B32EB6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253C5645-66D0-DF60-F011-58EDE5DA9E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40282"/>
            <a:ext cx="3284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Dataset Description: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377551"/>
            <a:ext cx="109589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system utilizes the </a:t>
            </a:r>
            <a:r>
              <a:rPr lang="en-US" sz="2400" b="1" dirty="0"/>
              <a:t>Corn Leaf Disease Detection</a:t>
            </a:r>
            <a:r>
              <a:rPr lang="en-US" sz="2400" dirty="0"/>
              <a:t> dataset from </a:t>
            </a:r>
            <a:r>
              <a:rPr lang="en-US" sz="2400" b="1" dirty="0" err="1"/>
              <a:t>Kaggle</a:t>
            </a:r>
            <a:r>
              <a:rPr lang="en-US" sz="2400" dirty="0"/>
              <a:t>, which contains a diverse collection of </a:t>
            </a:r>
            <a:r>
              <a:rPr lang="en-US" sz="2400" b="1" dirty="0"/>
              <a:t>high-resolution images</a:t>
            </a:r>
            <a:r>
              <a:rPr lang="en-US" sz="2400" dirty="0"/>
              <a:t> of corn leaves categorized into</a:t>
            </a:r>
            <a:r>
              <a:rPr lang="en-US" sz="2400" dirty="0" smtClean="0"/>
              <a:t>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Healthy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err="1" smtClean="0"/>
              <a:t>Cercospora</a:t>
            </a:r>
            <a:r>
              <a:rPr lang="en-US" sz="2400" b="1" dirty="0" smtClean="0"/>
              <a:t> </a:t>
            </a:r>
            <a:r>
              <a:rPr lang="en-US" sz="2400" b="1" dirty="0"/>
              <a:t>Leaf Spot (</a:t>
            </a:r>
            <a:r>
              <a:rPr lang="en-US" sz="2400" b="1" dirty="0" smtClean="0"/>
              <a:t>CLS)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Common </a:t>
            </a:r>
            <a:r>
              <a:rPr lang="en-US" sz="2400" b="1" dirty="0"/>
              <a:t>Rust (</a:t>
            </a:r>
            <a:r>
              <a:rPr lang="en-US" sz="2400" b="1" dirty="0" smtClean="0"/>
              <a:t>CR)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Northern </a:t>
            </a:r>
            <a:r>
              <a:rPr lang="en-US" sz="2400" b="1" dirty="0"/>
              <a:t>Leaf Blight (NLB)</a:t>
            </a:r>
            <a:endParaRPr lang="en-US" sz="2400" dirty="0"/>
          </a:p>
          <a:p>
            <a:r>
              <a:rPr lang="en-US" sz="2400" dirty="0"/>
              <a:t>Each image is labeled, enabling supervised learning for disease classification. The dataset supports robust training and evaluation of ensemble models by offering </a:t>
            </a:r>
            <a:r>
              <a:rPr lang="en-US" sz="2400" b="1" dirty="0"/>
              <a:t>variability in lighting, angles, and leaf conditions</a:t>
            </a:r>
            <a:r>
              <a:rPr lang="en-US" sz="2400" dirty="0"/>
              <a:t>, closely simulating real-world agricultural environments.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92945349"/>
      </p:ext>
    </p:extLst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21345C6-3064-D111-CF80-F7281989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4995FE3-5F5C-E28A-91CB-F4E7FA790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74074" y="817418"/>
            <a:ext cx="10903528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Model </a:t>
            </a:r>
            <a:r>
              <a:rPr lang="en-US" sz="2800" b="1" dirty="0" smtClean="0"/>
              <a:t>Implementation: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classify corn leaf conditions, we implemented and compared three models: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Convolutional Neural Network (CNN):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Extracts spatial features directly from leaf images, achieving high accuracy in identifying complex disease patterns.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Support Vector Machine (SVM):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classical machine learning model used with extracted image features for efficient binary and multi-class classification.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Ensemble SVM (EN-SVM):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Combines multiple SVM classifiers using ensemble techniques (e.g., majority voting) to enhance prediction robustness and generalization.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Each model was evaluated based 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accuracy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predicted output images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were generated to visualize model performance. The ensemble model demonstrated superior accuracy and reliability in detecting both healthy and diseased leaves.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306760"/>
      </p:ext>
    </p:extLst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611025" y="293325"/>
            <a:ext cx="11350500" cy="618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600" b="1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Dataset-Corn/Maize leaf disease detection dataset from </a:t>
            </a:r>
            <a:r>
              <a:rPr lang="en-US" sz="1600" b="1" dirty="0" err="1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Kaggle</a:t>
            </a:r>
            <a:endParaRPr lang="en-US" sz="1600" b="1" u="sng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 Paper- </a:t>
            </a:r>
            <a:endParaRPr lang="en-IN" sz="1600" b="1" dirty="0" smtClean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600" dirty="0" err="1" smtClean="0"/>
              <a:t>Rao</a:t>
            </a:r>
            <a:r>
              <a:rPr lang="en-US" sz="1600" dirty="0"/>
              <a:t>, R. N., &amp; Sridhar, B. (2018). </a:t>
            </a:r>
            <a:r>
              <a:rPr lang="en-US" sz="1600" i="1" dirty="0" err="1"/>
              <a:t>IoT</a:t>
            </a:r>
            <a:r>
              <a:rPr lang="en-US" sz="1600" i="1" dirty="0"/>
              <a:t> based smart crop-field monitoring and automation irrigation system</a:t>
            </a:r>
            <a:r>
              <a:rPr lang="en-US" sz="1600" dirty="0"/>
              <a:t>. In </a:t>
            </a:r>
            <a:r>
              <a:rPr lang="en-US" sz="1600" b="1" dirty="0"/>
              <a:t>Proc. 2nd Int. Conf. Inventive Syst. Control (ICISC)</a:t>
            </a:r>
            <a:r>
              <a:rPr lang="en-US" sz="1600" dirty="0"/>
              <a:t> (pp. 478–483).</a:t>
            </a:r>
            <a:endParaRPr lang="en-IN" sz="1600" dirty="0"/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Other references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r>
              <a:rPr lang="en-US" sz="1800" dirty="0" err="1"/>
              <a:t>Sreekantha</a:t>
            </a:r>
            <a:r>
              <a:rPr lang="en-US" sz="1800" dirty="0"/>
              <a:t>, D. K., &amp; </a:t>
            </a:r>
            <a:r>
              <a:rPr lang="en-US" sz="1800" dirty="0" err="1"/>
              <a:t>Kavya</a:t>
            </a:r>
            <a:r>
              <a:rPr lang="en-US" sz="1800" dirty="0"/>
              <a:t>, A. M. (2017). </a:t>
            </a:r>
            <a:r>
              <a:rPr lang="en-US" sz="1800" i="1" dirty="0"/>
              <a:t>Agricultural crop monitoring using </a:t>
            </a:r>
            <a:r>
              <a:rPr lang="en-US" sz="1800" i="1" dirty="0" err="1"/>
              <a:t>IoT</a:t>
            </a:r>
            <a:r>
              <a:rPr lang="en-US" sz="1800" i="1" dirty="0"/>
              <a:t> - A study</a:t>
            </a:r>
            <a:r>
              <a:rPr lang="en-US" sz="1800" dirty="0"/>
              <a:t>. In </a:t>
            </a:r>
            <a:r>
              <a:rPr lang="en-US" sz="1800" b="1" dirty="0"/>
              <a:t>Proc. 11th Int. Conf. </a:t>
            </a:r>
            <a:r>
              <a:rPr lang="en-US" sz="1800" b="1" dirty="0" err="1"/>
              <a:t>Intell</a:t>
            </a:r>
            <a:r>
              <a:rPr lang="en-US" sz="1800" b="1" dirty="0"/>
              <a:t>. Syst. Control (ISCO)</a:t>
            </a:r>
            <a:r>
              <a:rPr lang="en-US" sz="1800" dirty="0"/>
              <a:t> (pp. 134–139).</a:t>
            </a:r>
            <a:endParaRPr lang="en-IN" sz="1800" dirty="0"/>
          </a:p>
          <a:p>
            <a:r>
              <a:rPr lang="en-IN" sz="1800" dirty="0"/>
              <a:t>iii)</a:t>
            </a:r>
            <a:r>
              <a:rPr lang="en-US" sz="1800" dirty="0"/>
              <a:t>Ray, P. P. (2017). </a:t>
            </a:r>
            <a:r>
              <a:rPr lang="en-US" sz="1800" i="1" dirty="0"/>
              <a:t>Internet of Things for smart agriculture: Technologies, practices and future direction</a:t>
            </a:r>
            <a:r>
              <a:rPr lang="en-US" sz="1800" dirty="0"/>
              <a:t>. </a:t>
            </a:r>
            <a:r>
              <a:rPr lang="en-US" sz="1800" b="1" dirty="0"/>
              <a:t>J. Ambient </a:t>
            </a:r>
            <a:r>
              <a:rPr lang="en-US" sz="1800" b="1" dirty="0" err="1"/>
              <a:t>Intell</a:t>
            </a:r>
            <a:r>
              <a:rPr lang="en-US" sz="1800" b="1" dirty="0"/>
              <a:t>. Smart Environ., 9</a:t>
            </a:r>
            <a:r>
              <a:rPr lang="en-US" sz="1800" dirty="0"/>
              <a:t>(4), 395–420.</a:t>
            </a:r>
            <a:endParaRPr lang="en-IN" sz="1800" dirty="0"/>
          </a:p>
          <a:p>
            <a:r>
              <a:rPr lang="en-IN" sz="1800" dirty="0"/>
              <a:t>iv)</a:t>
            </a:r>
            <a:r>
              <a:rPr lang="en-US" sz="1800" dirty="0" err="1"/>
              <a:t>Marjani</a:t>
            </a:r>
            <a:r>
              <a:rPr lang="en-US" sz="1800" dirty="0"/>
              <a:t>, M. (2017). </a:t>
            </a:r>
            <a:r>
              <a:rPr lang="en-US" sz="1800" i="1" dirty="0"/>
              <a:t>Big </a:t>
            </a:r>
            <a:r>
              <a:rPr lang="en-US" sz="1800" i="1" dirty="0" err="1"/>
              <a:t>IoT</a:t>
            </a:r>
            <a:r>
              <a:rPr lang="en-US" sz="1800" i="1" dirty="0"/>
              <a:t> data analytics: Architecture, opportunities, and open research challenges</a:t>
            </a:r>
            <a:r>
              <a:rPr lang="en-US" sz="1800" dirty="0"/>
              <a:t>. </a:t>
            </a:r>
            <a:r>
              <a:rPr lang="en-US" sz="1800" b="1" dirty="0"/>
              <a:t>IEEE Access, 5</a:t>
            </a:r>
            <a:r>
              <a:rPr lang="en-US" sz="1800" dirty="0"/>
              <a:t>, 5247–5261.</a:t>
            </a:r>
            <a:endParaRPr lang="en-IN" sz="1800" dirty="0"/>
          </a:p>
          <a:p>
            <a:r>
              <a:rPr lang="en-US" sz="1800" dirty="0" smtClean="0"/>
              <a:t>.</a:t>
            </a:r>
            <a:r>
              <a:rPr lang="en-IN" sz="1800" dirty="0" smtClean="0"/>
              <a:t> </a:t>
            </a:r>
            <a:endParaRPr lang="en-IN" sz="1800" dirty="0"/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IN" sz="1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1DE35D32F8A9489F9CB065DAD17BDC" ma:contentTypeVersion="13" ma:contentTypeDescription="Create a new document." ma:contentTypeScope="" ma:versionID="e25a9aa4a88c77aeec566dba1f20454f">
  <xsd:schema xmlns:xsd="http://www.w3.org/2001/XMLSchema" xmlns:xs="http://www.w3.org/2001/XMLSchema" xmlns:p="http://schemas.microsoft.com/office/2006/metadata/properties" xmlns:ns2="be89791f-b053-47b8-996c-5f8fd4f0316a" xmlns:ns3="0849f367-8a1d-48f2-bf39-15b9dbd24819" targetNamespace="http://schemas.microsoft.com/office/2006/metadata/properties" ma:root="true" ma:fieldsID="9cf6ae9ae4862023b5d5ebce7384f618" ns2:_="" ns3:_="">
    <xsd:import namespace="be89791f-b053-47b8-996c-5f8fd4f0316a"/>
    <xsd:import namespace="0849f367-8a1d-48f2-bf39-15b9dbd248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anojHK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89791f-b053-47b8-996c-5f8fd4f031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anojHK" ma:index="12" nillable="true" ma:displayName="Manoj HK" ma:default="[today]" ma:description="good" ma:format="DateTime" ma:internalName="ManojHK">
      <xsd:simpleType>
        <xsd:restriction base="dms:DateTim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9f367-8a1d-48f2-bf39-15b9dbd2481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7873f259-b383-4d8b-b373-ab30f4e32a64}" ma:internalName="TaxCatchAll" ma:showField="CatchAllData" ma:web="0849f367-8a1d-48f2-bf39-15b9dbd248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nojHK xmlns="be89791f-b053-47b8-996c-5f8fd4f0316a">2025-04-09T04:17:20+00:00</ManojHK>
    <lcf76f155ced4ddcb4097134ff3c332f xmlns="be89791f-b053-47b8-996c-5f8fd4f0316a">
      <Terms xmlns="http://schemas.microsoft.com/office/infopath/2007/PartnerControls"/>
    </lcf76f155ced4ddcb4097134ff3c332f>
    <TaxCatchAll xmlns="0849f367-8a1d-48f2-bf39-15b9dbd24819" xsi:nil="true"/>
  </documentManagement>
</p:properties>
</file>

<file path=customXml/itemProps1.xml><?xml version="1.0" encoding="utf-8"?>
<ds:datastoreItem xmlns:ds="http://schemas.openxmlformats.org/officeDocument/2006/customXml" ds:itemID="{B49D52B8-BEF9-4ADB-B0FD-755E17757A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E40FFF-DF56-47D7-9DCD-938108E903F5}">
  <ds:schemaRefs>
    <ds:schemaRef ds:uri="0849f367-8a1d-48f2-bf39-15b9dbd24819"/>
    <ds:schemaRef ds:uri="be89791f-b053-47b8-996c-5f8fd4f031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AF2DBD4-2F05-4E12-8E39-CAFA09A633E0}">
  <ds:schemaRefs>
    <ds:schemaRef ds:uri="0849f367-8a1d-48f2-bf39-15b9dbd24819"/>
    <ds:schemaRef ds:uri="b8676f30-e579-463a-a8aa-821338b00374"/>
    <ds:schemaRef ds:uri="be89791f-b053-47b8-996c-5f8fd4f0316a"/>
    <ds:schemaRef ds:uri="ed62f681-7444-4666-891e-c71d42de2dd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282</Words>
  <Application>Microsoft Office PowerPoint</Application>
  <PresentationFormat>Custom</PresentationFormat>
  <Paragraphs>40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Times New Roman</vt:lpstr>
      <vt:lpstr>Calibri</vt:lpstr>
      <vt:lpstr>Office Theme</vt:lpstr>
      <vt:lpstr>               Title: Ensemble classification and IoT-based patter recognition for crop disease monitoring system Course Name- Pattern Recognition Course Code- CSE3122 Team Number- 25  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Title  Course Name- Course Code- Team Number- 07   </dc:title>
  <dc:creator>Hida Fathima PH</dc:creator>
  <cp:lastModifiedBy>LENOVO</cp:lastModifiedBy>
  <cp:revision>5</cp:revision>
  <dcterms:modified xsi:type="dcterms:W3CDTF">2025-04-21T17:46:24Z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0x0101004C1DE35D32F8A9489F9CB065DAD17BDC</vt:lpwstr>
  </property>
  <property fmtid="{D5CDD505-2E9C-101B-9397-08002B2CF9AE}" pid="3" name="MediaServiceImageTags">
    <vt:lpwstr/>
  </property>
</Properties>
</file>